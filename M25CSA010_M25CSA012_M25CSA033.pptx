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D9D4-C69A-4C3C-AED6-4D91C6A8D1A0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4BD7C-9924-478C-AD17-3C36BED0D44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28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D9D4-C69A-4C3C-AED6-4D91C6A8D1A0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4BD7C-9924-478C-AD17-3C36BED0D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9701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D9D4-C69A-4C3C-AED6-4D91C6A8D1A0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4BD7C-9924-478C-AD17-3C36BED0D44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4036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D9D4-C69A-4C3C-AED6-4D91C6A8D1A0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4BD7C-9924-478C-AD17-3C36BED0D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21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D9D4-C69A-4C3C-AED6-4D91C6A8D1A0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4BD7C-9924-478C-AD17-3C36BED0D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326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D9D4-C69A-4C3C-AED6-4D91C6A8D1A0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4BD7C-9924-478C-AD17-3C36BED0D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6874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D9D4-C69A-4C3C-AED6-4D91C6A8D1A0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4BD7C-9924-478C-AD17-3C36BED0D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90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5AD9D4-C69A-4C3C-AED6-4D91C6A8D1A0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634BD7C-9924-478C-AD17-3C36BED0D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231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D9D4-C69A-4C3C-AED6-4D91C6A8D1A0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4BD7C-9924-478C-AD17-3C36BED0D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0396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D9D4-C69A-4C3C-AED6-4D91C6A8D1A0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4BD7C-9924-478C-AD17-3C36BED0D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836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D9D4-C69A-4C3C-AED6-4D91C6A8D1A0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4BD7C-9924-478C-AD17-3C36BED0D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6691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25AD9D4-C69A-4C3C-AED6-4D91C6A8D1A0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634BD7C-9924-478C-AD17-3C36BED0D44B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762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3125EEF-C74D-C346-DEF5-F82FFAC40FC6}"/>
              </a:ext>
            </a:extLst>
          </p:cNvPr>
          <p:cNvSpPr txBox="1"/>
          <p:nvPr/>
        </p:nvSpPr>
        <p:spPr>
          <a:xfrm>
            <a:off x="688258" y="747252"/>
            <a:ext cx="11169445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For Big Data </a:t>
            </a:r>
          </a:p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(CSL7110)</a:t>
            </a:r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Dip Shankar Banerjee</a:t>
            </a:r>
          </a:p>
          <a:p>
            <a:endParaRPr lang="en-IN" dirty="0"/>
          </a:p>
          <a:p>
            <a:pPr algn="ctr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Large-Scale Semantic Search System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Members: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Jyoti Dwivedi [M25CSA010]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Jahanvi Gajera [M25CSA012]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Akanksha Kapil [M25CSA033]</a:t>
            </a:r>
          </a:p>
        </p:txBody>
      </p:sp>
    </p:spTree>
    <p:extLst>
      <p:ext uri="{BB962C8B-B14F-4D97-AF65-F5344CB8AC3E}">
        <p14:creationId xmlns:p14="http://schemas.microsoft.com/office/powerpoint/2010/main" val="2108703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6D81E-0B6F-7BEE-2779-EC34DED3B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26B20-F88D-02DC-123F-B4C2C02A1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Search millions of Technical Q&amp;A documents and retrieve semantically relevant results in real time.</a:t>
            </a:r>
          </a:p>
          <a:p>
            <a:endParaRPr lang="en-IN" sz="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Why keyword search isn’t enough: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Misses synonyms (“car” vs “automobile”)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Cannot understand intent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Surface-form matching only</a:t>
            </a:r>
            <a:br>
              <a:rPr lang="en-IN" dirty="0"/>
            </a:b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Our approach: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Dense embeddings → vectors capture meaning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Distributed processing for scale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Approximate nearest-</a:t>
            </a:r>
            <a:r>
              <a:rPr lang="en-IN" dirty="0" err="1"/>
              <a:t>neighbor</a:t>
            </a:r>
            <a:r>
              <a:rPr lang="en-IN" dirty="0"/>
              <a:t> search for speed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8662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F5573-3AD9-8882-2BC3-60D675F31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Big Data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961E1-4D9E-6429-5BB4-D8FDFBCD0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Apache Spark (distributed processing)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Parquet (columnar storage)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Spark Standalone Cluster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RDD lineage (fault tolerance)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mapPartitions</a:t>
            </a:r>
            <a:r>
              <a:rPr lang="en-IN" dirty="0"/>
              <a:t> (batch search)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456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798B7-9E0D-18A9-F0E1-73A03CBA4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 Stack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A7BD76-C3E4-B9F3-3BC0-C652C61DC6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944" y="2212259"/>
            <a:ext cx="10320003" cy="320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316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26871-B175-B251-6966-9CA96D00C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F49F6-226F-833A-E757-BA8248482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Stage 1: Spark Preprocessing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Read XML in parallel across partitions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Parse &lt;row&gt; elements via UDF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Strip HTML, clean text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Output: 945,111 rows in Parquet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Stage 2: Embedding Generation (GPU)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Model: </a:t>
            </a:r>
            <a:r>
              <a:rPr lang="en-IN" dirty="0" err="1"/>
              <a:t>intfloat</a:t>
            </a:r>
            <a:r>
              <a:rPr lang="en-IN" dirty="0"/>
              <a:t>/e5-large-v2 (1024-dim)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Batch size: 4,096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Required "passage: " prefix on documents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Output: 945K × 1024 float32 (3.87 GB)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Stage 3: FAISS Indexing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IVF1024,Flat structure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Inner-product metric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 err="1"/>
              <a:t>nprobe</a:t>
            </a:r>
            <a:r>
              <a:rPr lang="en-IN" dirty="0"/>
              <a:t>=32</a:t>
            </a:r>
          </a:p>
        </p:txBody>
      </p:sp>
    </p:spTree>
    <p:extLst>
      <p:ext uri="{BB962C8B-B14F-4D97-AF65-F5344CB8AC3E}">
        <p14:creationId xmlns:p14="http://schemas.microsoft.com/office/powerpoint/2010/main" val="3039563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41A07-1247-851C-3967-60CCFECD3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Spark Configuration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E9C8A9-6311-B0C6-8D73-C1503F0AAA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338" y="2753032"/>
            <a:ext cx="10356636" cy="2367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321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D4E49-EF39-2F4B-1BB1-D581CFCBB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FAISS 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7B876-05B4-44C6-50C6-DA505D2B9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Inverted File (IVF) index: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IN" dirty="0"/>
              <a:t>Cluster all vectors into 1024 cells (k-means at build time)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IN" dirty="0"/>
              <a:t>At query time: compare query to 1024 centroids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IN" dirty="0"/>
              <a:t>Search only the closest </a:t>
            </a:r>
            <a:r>
              <a:rPr lang="en-IN" dirty="0" err="1"/>
              <a:t>nprobe</a:t>
            </a:r>
            <a:r>
              <a:rPr lang="en-IN" dirty="0"/>
              <a:t> cells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IN" dirty="0"/>
              <a:t>Skip remaining cells ⇒ massive speedup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err="1"/>
              <a:t>nprobe</a:t>
            </a:r>
            <a:r>
              <a:rPr lang="en-IN" dirty="0"/>
              <a:t> = number of clusters searched per query</a:t>
            </a:r>
          </a:p>
          <a:p>
            <a:pPr lvl="1"/>
            <a:r>
              <a:rPr lang="en-IN" dirty="0" err="1"/>
              <a:t>nprobe</a:t>
            </a:r>
            <a:r>
              <a:rPr lang="en-IN" dirty="0"/>
              <a:t>=1 ⇒ ˜923 vectors checked ⇒ 51% recall, 1.5ms</a:t>
            </a:r>
          </a:p>
          <a:p>
            <a:pPr lvl="1"/>
            <a:r>
              <a:rPr lang="en-IN" dirty="0" err="1"/>
              <a:t>nprobe</a:t>
            </a:r>
            <a:r>
              <a:rPr lang="en-IN" dirty="0"/>
              <a:t>=32 ⇒ ˜30K vectors checked ⇒ 95% recall, 27ms</a:t>
            </a:r>
          </a:p>
          <a:p>
            <a:pPr lvl="1"/>
            <a:r>
              <a:rPr lang="en-IN" dirty="0" err="1"/>
              <a:t>nprobe</a:t>
            </a:r>
            <a:r>
              <a:rPr lang="en-IN" dirty="0"/>
              <a:t>=1024 ⇒ all vectors ⇒ 100% (= brute force)</a:t>
            </a:r>
          </a:p>
        </p:txBody>
      </p:sp>
    </p:spTree>
    <p:extLst>
      <p:ext uri="{BB962C8B-B14F-4D97-AF65-F5344CB8AC3E}">
        <p14:creationId xmlns:p14="http://schemas.microsoft.com/office/powerpoint/2010/main" val="923000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09B34-B22F-60E3-FF23-148A1201B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Fault Tolerance Mechanism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C36CA-238F-67BB-3F89-4DE0CDFF6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Spark’s RDD Lineage: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Every partition’s transformation is a deterministic computation graph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If executor dies: recompute only lost partitions on surviving executors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No checkpointing needed — </a:t>
            </a:r>
            <a:r>
              <a:rPr lang="en-US" dirty="0" err="1"/>
              <a:t>recomputation</a:t>
            </a:r>
            <a:r>
              <a:rPr lang="en-US" dirty="0"/>
              <a:t> is correct because RDDs are immutable</a:t>
            </a:r>
          </a:p>
          <a:p>
            <a:pPr marL="292608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Recovery Process:</a:t>
            </a:r>
          </a:p>
          <a:p>
            <a:pPr marL="635508" lvl="1" indent="-342900">
              <a:buFont typeface="+mj-lt"/>
              <a:buAutoNum type="arabicPeriod"/>
            </a:pPr>
            <a:r>
              <a:rPr lang="en-US" dirty="0"/>
              <a:t>Driver detects executor loss via heartbeat timeout</a:t>
            </a:r>
          </a:p>
          <a:p>
            <a:pPr marL="635508" lvl="1" indent="-342900">
              <a:buFont typeface="+mj-lt"/>
              <a:buAutoNum type="arabicPeriod"/>
            </a:pPr>
            <a:r>
              <a:rPr lang="en-US" dirty="0"/>
              <a:t>Tasks on dead executor marked as failed</a:t>
            </a:r>
          </a:p>
          <a:p>
            <a:pPr marL="635508" lvl="1" indent="-342900">
              <a:buFont typeface="+mj-lt"/>
              <a:buAutoNum type="arabicPeriod"/>
            </a:pPr>
            <a:r>
              <a:rPr lang="en-US" dirty="0"/>
              <a:t>Failed tasks rescheduled on surviving executors</a:t>
            </a:r>
          </a:p>
          <a:p>
            <a:pPr marL="635508" lvl="1" indent="-342900">
              <a:buFont typeface="+mj-lt"/>
              <a:buAutoNum type="arabicPeriod"/>
            </a:pPr>
            <a:r>
              <a:rPr lang="en-US" dirty="0"/>
              <a:t>Job continues without manual intervention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8064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95EA2-06A1-F294-04A4-ED8290267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Fault Tolerance: Experimental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D7F8E-7681-C871-AE4E-9EE36B0BD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Setup: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Slow distributed map across 945,111 rows in 40 partitions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Background thread SIGKILLs one worker at the 15-second mark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Measure whether job completes</a:t>
            </a:r>
          </a:p>
          <a:p>
            <a:pPr marL="0" indent="0">
              <a:buNone/>
            </a:pPr>
            <a:r>
              <a:rPr lang="en-US" b="1" dirty="0"/>
              <a:t>Result:</a:t>
            </a:r>
          </a:p>
          <a:p>
            <a:pPr marL="578358" lvl="1" indent="-285750">
              <a:buFont typeface="Courier New" panose="02070309020205020404" pitchFamily="49" charset="0"/>
              <a:buChar char="o"/>
            </a:pPr>
            <a:r>
              <a:rPr lang="en-US" dirty="0"/>
              <a:t>Job started with 2 workers</a:t>
            </a:r>
          </a:p>
          <a:p>
            <a:pPr marL="578358" lvl="1" indent="-285750">
              <a:buFont typeface="Courier New" panose="02070309020205020404" pitchFamily="49" charset="0"/>
              <a:buChar char="o"/>
            </a:pPr>
            <a:r>
              <a:rPr lang="en-US" dirty="0"/>
              <a:t>One worker </a:t>
            </a:r>
            <a:r>
              <a:rPr lang="en-US" dirty="0" err="1"/>
              <a:t>SIGKILL’d</a:t>
            </a:r>
            <a:r>
              <a:rPr lang="en-US" dirty="0"/>
              <a:t> mid-execution</a:t>
            </a:r>
          </a:p>
          <a:p>
            <a:pPr marL="578358" lvl="1" indent="-285750">
              <a:buFont typeface="Courier New" panose="02070309020205020404" pitchFamily="49" charset="0"/>
              <a:buChar char="o"/>
            </a:pPr>
            <a:r>
              <a:rPr lang="en-US" dirty="0"/>
              <a:t>Job completed: all 945,111 rows processed</a:t>
            </a:r>
          </a:p>
          <a:p>
            <a:pPr marL="578358" lvl="1" indent="-285750">
              <a:buFont typeface="Courier New" panose="02070309020205020404" pitchFamily="49" charset="0"/>
              <a:buChar char="o"/>
            </a:pPr>
            <a:r>
              <a:rPr lang="en-US" dirty="0"/>
              <a:t>Spark’s RDD lineage &amp; task retry handled the failure transparently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1071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A11C9-376A-E6CE-B572-3559BBAD5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Fault Tolerance: Before &amp; After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43E2CD-4A95-116D-BE92-355B44D3AE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24335"/>
          <a:stretch>
            <a:fillRect/>
          </a:stretch>
        </p:blipFill>
        <p:spPr>
          <a:xfrm>
            <a:off x="1523529" y="1865179"/>
            <a:ext cx="8977323" cy="441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681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D3C11-CB41-B5C1-0863-9D434165B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71BB2-B4EB-8F35-42AC-42452377F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Fault Tolerance: Before &amp; After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F90DE24-6F3E-8FEA-FF83-48FD60AF8E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39"/>
          <a:stretch>
            <a:fillRect/>
          </a:stretch>
        </p:blipFill>
        <p:spPr>
          <a:xfrm>
            <a:off x="1533832" y="1806187"/>
            <a:ext cx="8829368" cy="453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042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07CC1-474C-E849-E31A-C8AEF660A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Latency 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7E4F8B-0F7B-72DF-9EB8-5A5D526B29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920" y="1933323"/>
            <a:ext cx="3723614" cy="29913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5FFC1C-1CA1-5BD5-59F1-B34D9E4520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0" y="2260332"/>
            <a:ext cx="3960429" cy="28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840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EC436-AB6F-D8AF-EA60-0111AF480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Live Demo: Flask Inference Search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03DAB6-C05B-B48A-04E0-B2FD7EF8AB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02"/>
          <a:stretch>
            <a:fillRect/>
          </a:stretch>
        </p:blipFill>
        <p:spPr>
          <a:xfrm>
            <a:off x="2467897" y="1846263"/>
            <a:ext cx="7216877" cy="4510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103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53041-4904-41B1-8BA1-109A6D2CA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Design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FF6C3-284C-2A8D-7340-E601F901E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endParaRPr lang="en-IN" dirty="0"/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Spark standalone over local mode: True distributed semantics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e5-large-v2 (1024-dim): Better retrieval quality than smaller models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IVF-Flat over IVF-PQ: Index fits in RAM at our scale; PQ would lose recall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 err="1"/>
              <a:t>nprobe</a:t>
            </a:r>
            <a:r>
              <a:rPr lang="en-IN" dirty="0"/>
              <a:t>=32: Knee of recall-latency curve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Two serving paths: Flask for low-latency, Spark for high-throughput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Parquet as interchange format: Columnar compression across all stages</a:t>
            </a:r>
          </a:p>
        </p:txBody>
      </p:sp>
    </p:spTree>
    <p:extLst>
      <p:ext uri="{BB962C8B-B14F-4D97-AF65-F5344CB8AC3E}">
        <p14:creationId xmlns:p14="http://schemas.microsoft.com/office/powerpoint/2010/main" val="3227622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6F671-86A9-3D42-ED01-BC4A76040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25165-B114-9B27-B027-83744A34B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93218"/>
            <a:ext cx="10058400" cy="4023360"/>
          </a:xfrm>
        </p:spPr>
        <p:txBody>
          <a:bodyPr/>
          <a:lstStyle/>
          <a:p>
            <a:r>
              <a:rPr lang="en-IN" b="1" dirty="0"/>
              <a:t>Limitations: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Single-node cluster (multi-node deployment is config change)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CPU FAISS due to environment-specific CUDA issues</a:t>
            </a:r>
          </a:p>
          <a:p>
            <a:pPr marL="201168" lvl="1" indent="0">
              <a:buNone/>
            </a:pPr>
            <a:endParaRPr lang="en-US" b="1" dirty="0"/>
          </a:p>
          <a:p>
            <a:pPr marL="201168" lvl="1" indent="0">
              <a:buNone/>
            </a:pPr>
            <a:r>
              <a:rPr lang="en-IN" b="1" dirty="0"/>
              <a:t>Future work:</a:t>
            </a:r>
            <a:endParaRPr lang="en-IN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Cross-encoder reranking (two-stage retrieval)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Hybrid search: BM25 + semantic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Multi-node deployment with GPU-per-executor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29224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F69EC5-D340-1732-749A-5AEC58080B62}"/>
              </a:ext>
            </a:extLst>
          </p:cNvPr>
          <p:cNvSpPr txBox="1"/>
          <p:nvPr/>
        </p:nvSpPr>
        <p:spPr>
          <a:xfrm>
            <a:off x="1155290" y="2705725"/>
            <a:ext cx="988141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139914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514</TotalTime>
  <Words>557</Words>
  <Application>Microsoft Office PowerPoint</Application>
  <PresentationFormat>Widescreen</PresentationFormat>
  <Paragraphs>103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Courier New</vt:lpstr>
      <vt:lpstr>Times New Roman</vt:lpstr>
      <vt:lpstr>Wingdings</vt:lpstr>
      <vt:lpstr>Retrospect</vt:lpstr>
      <vt:lpstr>PowerPoint Presentation</vt:lpstr>
      <vt:lpstr>Goal</vt:lpstr>
      <vt:lpstr>Big Data Components</vt:lpstr>
      <vt:lpstr>Tech Stack</vt:lpstr>
      <vt:lpstr>Data Pipeline</vt:lpstr>
      <vt:lpstr>Spark Configuration</vt:lpstr>
      <vt:lpstr>FAISS Indexing</vt:lpstr>
      <vt:lpstr>Fault Tolerance Mechanism</vt:lpstr>
      <vt:lpstr>Fault Tolerance: Experimental Test</vt:lpstr>
      <vt:lpstr>Fault Tolerance: Before &amp; After</vt:lpstr>
      <vt:lpstr>Fault Tolerance: Before &amp; After</vt:lpstr>
      <vt:lpstr>Latency Results</vt:lpstr>
      <vt:lpstr>Live Demo: Flask Inference Search</vt:lpstr>
      <vt:lpstr>Key Design Decisions</vt:lpstr>
      <vt:lpstr>Limitations &amp; Future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Jyoti Dwivedi</dc:creator>
  <cp:lastModifiedBy>Jyoti Dwivedi</cp:lastModifiedBy>
  <cp:revision>1</cp:revision>
  <dcterms:created xsi:type="dcterms:W3CDTF">2026-04-29T09:43:41Z</dcterms:created>
  <dcterms:modified xsi:type="dcterms:W3CDTF">2026-04-29T18:18:18Z</dcterms:modified>
</cp:coreProperties>
</file>